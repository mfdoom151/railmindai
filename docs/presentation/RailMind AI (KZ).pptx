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Индекстегі фактор салмақтары, %</c:v>
                </c:pt>
              </c:strCache>
            </c:strRef>
          </c:tx>
          <c:spPr>
            <a:solidFill>
              <a:srgbClr val="1A6FD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Өткізу қабілеті</c:v>
                  </c:pt>
                  <c:pt idx="1">
                    <c:v>Кестеден орташа ауытқу</c:v>
                  </c:pt>
                  <c:pt idx="2">
                    <c:v>Қақтығыстар</c:v>
                  </c:pt>
                  <c:pt idx="3">
                    <c:v>Жолдар жүктемесі</c:v>
                  </c:pt>
                  <c:pt idx="4">
                    <c:v>Локомотивтер жүктемесі</c:v>
                  </c:pt>
                  <c:pt idx="5">
                    <c:v>Бригадалар жүктемесі</c:v>
                  </c:pt>
                  <c:pt idx="6">
                    <c:v>Ең үлкен ауытқу</c:v>
                  </c:pt>
                  <c:pt idx="7">
                    <c:v>Жақындаудағы кезек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  <c:pt idx="6">
                  <c:v>7</c:v>
                </c:pt>
                <c:pt idx="7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0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Араласпай</c:v>
                </c:pt>
              </c:strCache>
            </c:strRef>
          </c:tx>
          <c:spPr>
            <a:solidFill>
              <a:srgbClr val="D245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0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 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Қайта есептегеннен кейін</c:v>
                </c:pt>
              </c:strCache>
            </c:strRef>
          </c:tx>
          <c:spPr>
            <a:solidFill>
              <a:srgbClr val="1A6FD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0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 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800" u="none">
                  <a:solidFill>
                    <a:srgbClr val="10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Жобаны бір сөйлеммен таныстырыңыз: жұмысты жоспарлайтын және ақау кезінде жоспарды қайта құратын цифрлық станция. Тірі стендке сілтеме — төменде.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Шығын сандары әдейі жоқ: команданың расталған статистикасы жоқ. Кейс материалдарындағы үш жағдай — Отар, Қопа, Шамалған.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идея: төрт ресурс келісілгенде ғана маневр мүмкін. Скриншотта — «тар жері» бар нақты ресурстар панелі.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Шешімнің үш блогы: модель, жоспарлаушы, жұмыс орны. Жоспарлаушы — OR-Tools CP-SAT және жылдам эвристика.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Цикл секундына шамамен 2 рет. Өлшеулер: онлайн-стендте ағын ≈2,5 кадр/с; алғашқы жоспар миллисекундтарда, түпкілікті — 1,5 с дейін (шешуші шегі).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— ҚТЖ карта-сызбасының фотосы; станциялар мен учаскелер жолдарға байланған. Кейстің 13 станциясы, әрқайсысының өз мәселесі бар. Желінің қалғаны — қозғалыс имитациясы.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Жұмыс орнын көрсетеміз: сол жақта индекс, ортада схема және диаграмма, оң жақта қақтығыстар, төменде ақаулар және шолу.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Индекс ашық: формула, салмақтар және шығындардың топ-5 себебі. Салмақтар қайта іске қоспай өзгереді.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Сценарий: жол жабылды, локомотив істен шықты, пойыз кешікті. Араласпағанда жоспар индексі 60,5, қайта есептегеннен кейін 86,2. Бұл симуляциядағы жоспар болжамы.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ИДП/ТРА сілтемелері тергеу актілері бойынша берілген — қорғаудан бұрын қолданыстағы редакциямен салыстырыңыз. Жүйе — СППР, СЦБ-ны алмастырмайды.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Инженерлік фактілер: 25 автотест, жүктеме тесті, рөлдер, метрикалар, Docker. Барлық сандар тексеріледі.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Қорытынды: шектер туралы турасын айту, пилотқа жол, тірі стендке QR-код және демо-логиндер.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ailtwin-digital-station.onrender.com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hyperlink" Target="https://railtwin-digital-station.onrender.com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· «Цифрлық станция» кейсі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Цифрлық станция: станция жұмысын жоспарлау және басқару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Turmakhan Maqsat Serikuly (GitHub: MFDoom151)</a:t>
            </a:r>
            <a:endParaRPr lang="en-US" sz="14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640080" y="5897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8FB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railtwin-digital-station.onrender.com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43016" y="1179576"/>
            <a:ext cx="596188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8" name="Image 0" descr="C:/Users/user/AppData/Local/Temp/claude/C--Users-user-Desktop-Hackathon/718ac958-3b41-4cc7-8085-f07a55100345/scratchpad/shots/kz_a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Мәселе: станцияны қолмен басқарады, ал ақау бәрін бір сәтте өзгертеді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618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Қолмен жоспарлау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842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жолдарды, горловиналарды, локомотивтер мен бригадаларды өзі үйлестіреді.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246120"/>
            <a:ext cx="731520" cy="731520"/>
          </a:xfrm>
          <a:prstGeom prst="ellipse">
            <a:avLst/>
          </a:prstGeom>
          <a:solidFill>
            <a:srgbClr val="E39B12"/>
          </a:solidFill>
          <a:ln w="12700">
            <a:solidFill>
              <a:srgbClr val="E39B1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3081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Ақау жоспарды бұзады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34472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Жолдың жабылуы, стрелканың істен шығуы, пойыздың кешігуі немесе бригада жетіспеуі — жоспарды бірнеше минутта қайта құру керек.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D2453C"/>
          </a:solidFill>
          <a:ln w="12700">
            <a:solidFill>
              <a:srgbClr val="D245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Қателіктің бағасы — қауіпсіздік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49103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материалдарында: ұмытылған башмақтар (Отар), қарсы маршруттар (Қопа), бекітілмеген құрам (Шамалған).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28816" y="1453896"/>
            <a:ext cx="5138928" cy="21314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21" name="Image 3" descr="C:/Users/user/AppData/Local/Temp/claude/C--Users-user-Desktop-Hackathon/718ac958-3b41-4cc7-8085-f07a55100345/scratchpad/shots/kz_a_scheme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08760"/>
            <a:ext cx="5029200" cy="20217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28816" y="364020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Жүйедегі станция схемасы: бос емес жолдар және кезектегі пойыздар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407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Шығын статистикасы келтірілмейді: расталған деректер жоқ.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Төрт ресурс — бір шешім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487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қабылдау-жөнелту және сұрыптау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67735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0615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05" y="17487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0615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Маневрлік локомотив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50615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ЧМЭ3 / ТЭМ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6830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69710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300" y="17487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971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Құрастырушы бригада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6971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ауысым және қолжетімділік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05926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88806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396" y="174879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88806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 стрелкалық маршруттар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88806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қақтығыссыз горловиналар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383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Маневр төрт ресурс бір мезгілде келісілгенде ғана мүмкін. Біреуі жетіспесе — тұрып қалу және жақындаудағы кезек.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493776" y="4151376"/>
            <a:ext cx="10991088" cy="118753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27" name="Image 4" descr="C:/Users/user/AppData/Local/Temp/claude/C--Users-user-Desktop-Hackathon/718ac958-3b41-4cc7-8085-f07a55100345/scratchpad/shots/kz_res_on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10881360" cy="107781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3776" y="5393778"/>
            <a:ext cx="1099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осылай көреді: станция ресурстары және «тар жер»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AI: станция моделі + жоспарлаушы + диспетчер жұмыс орны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Станцияның цифрлық моделі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Жолдар, горловиналар, платформалар, пойыздар, локомотивтер, бригадалар, жөндеу терезелері. Кіріс оқиғалары тексеріледі: қайталанулар, қоқыс, реті.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783080"/>
            <a:ext cx="777240" cy="77724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9773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Жоспарлаушы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246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CP-SAT және жылдам эвристика: барлық шектеулерді ескеріп жоспар құрады, баламалар ұсынады.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783080"/>
            <a:ext cx="777240" cy="77724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97739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Диспетчердің жұмыс орны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246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схемасы, қозғалыс диаграммасы, тиімділік индексі, қақтығыстар мен ұсыныстар, шолу, есептер.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2A52"/>
          </a:solidFill>
          <a:ln w="12700">
            <a:solidFill>
              <a:srgbClr val="0B2A5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экранда: не болып жатыр, неге нашар, не істеу керек.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Деректерден ұсынысқа дейін — бес қадам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10512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Симулятордан немесе сыртқы көзден WebSocket арқылы оқиғалар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69464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999232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78224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99232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 моделі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999232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Тексеру: қайталанулар, қоқыс, реті; координаталарды тегістеу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37176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4064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266944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45936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66944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Қақтығыстар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266944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және одан көп түр: жол жабық, қабылдауды күту, жөнелтудің кешігуі…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104888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51776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7534656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613648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534656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Жоспар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534656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 және эвристика; бірнеше нұсқа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9372600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19488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802368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881360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7373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802368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Ұсыныстар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802368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басумен қолдану; жоспар нақты уақытта жаңарады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39B12"/>
          </a:solidFill>
          <a:ln w="12700">
            <a:solidFill>
              <a:srgbClr val="E39B12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44577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143000" y="4297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секундына шамамен екі рет қайталанады; әр жаңа оқиға қайта жоспарлауды іске қосады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548640" y="5029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43" name="Text 35"/>
          <p:cNvSpPr txBox="1"/>
          <p:nvPr/>
        </p:nvSpPr>
        <p:spPr>
          <a:xfrm>
            <a:off x="731520" y="5074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</a:t>
            </a:r>
            <a:endParaRPr lang="en-US" sz="2600" dirty="0"/>
          </a:p>
        </p:txBody>
      </p:sp>
      <p:sp>
        <p:nvSpPr>
          <p:cNvPr id="44" name="Text 36"/>
          <p:cNvSpPr txBox="1"/>
          <p:nvPr/>
        </p:nvSpPr>
        <p:spPr>
          <a:xfrm>
            <a:off x="2377440" y="5074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кадр/с — деректер ағыны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4297680" y="5029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46" name="Text 38"/>
          <p:cNvSpPr txBox="1"/>
          <p:nvPr/>
        </p:nvSpPr>
        <p:spPr>
          <a:xfrm>
            <a:off x="4480560" y="5074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мс</a:t>
            </a:r>
            <a:endParaRPr lang="en-US" sz="2600" dirty="0"/>
          </a:p>
        </p:txBody>
      </p:sp>
      <p:sp>
        <p:nvSpPr>
          <p:cNvPr id="47" name="Text 39"/>
          <p:cNvSpPr txBox="1"/>
          <p:nvPr/>
        </p:nvSpPr>
        <p:spPr>
          <a:xfrm>
            <a:off x="6126480" y="5074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төтенше жағдайды қабылдау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8046720" y="5029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49" name="Text 41"/>
          <p:cNvSpPr txBox="1"/>
          <p:nvPr/>
        </p:nvSpPr>
        <p:spPr>
          <a:xfrm>
            <a:off x="8229600" y="5074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 … 1,5 с</a:t>
            </a:r>
            <a:endParaRPr lang="en-US" sz="2600" dirty="0"/>
          </a:p>
        </p:txBody>
      </p:sp>
      <p:sp>
        <p:nvSpPr>
          <p:cNvPr id="50" name="Text 42"/>
          <p:cNvSpPr txBox="1"/>
          <p:nvPr/>
        </p:nvSpPr>
        <p:spPr>
          <a:xfrm>
            <a:off x="9875520" y="5074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алғашқыдан түпкілікті жоспарға дейін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Өлшеу: әзірлеуші ноутбугі және онлайн-стенд, синтетикалық деректер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Бақылау: бүкіл ҚТЖ желісі және кез келген станцияның 3D-моделі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362456"/>
            <a:ext cx="6419088" cy="3805679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6" name="Image 0" descr="C:/Users/user/AppData/Local/Temp/claude/C--Users-user-Desktop-Hackathon/718ac958-3b41-4cc7-8085-f07a55100345/scratchpad/shots/kz_map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6959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" y="5222999"/>
            <a:ext cx="6419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Карта-сызбадағы ҚТЖ желісі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08976" y="1362456"/>
            <a:ext cx="3858768" cy="2305873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9" name="Image 1" descr="C:/Users/user/AppData/Local/Temp/claude/C--Users-user-Desktop-Hackathon/718ac958-3b41-4cc7-8085-f07a55100345/scratchpad/shots/kz_map_heat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17320"/>
            <a:ext cx="3749040" cy="21961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08976" y="3723193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Жүктеме жылу картасы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808976" y="4107241"/>
            <a:ext cx="3858768" cy="1790792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12" name="Image 2" descr="C:/Users/user/AppData/Local/Temp/claude/C--Users-user-Desktop-Hackathon/718ac958-3b41-4cc7-8085-f07a55100345/scratchpad/shots/kz_twin_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62105"/>
            <a:ext cx="3749040" cy="16810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08976" y="5952897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Алматы-1 станциясының 3D-моделі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661911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Кейстің 13 станциясы — әрқайсысының өз мәселесі бар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Учаскелер жүктемесінің жылу картасы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023360" y="5661911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Жолдар бойынша пойыздар қозғалысының имитациясы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Станцияны басу — оның 3D-моделін ашады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Басқару: диспетчердің жұмыс орны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362456"/>
            <a:ext cx="7790688" cy="4910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6" name="Image 0" descr="C:/Users/user/AppData/Local/Temp/claude/C--Users-user-Desktop-Hackathon/718ac958-3b41-4cc7-8085-f07a55100345/scratchpad/shots/kz_a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0" y="1463040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Тиімділік индексі және шығын себептері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49424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22037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 жол схемасы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3035808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2990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Қозғалыс диаграммасы: жоспар және факт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822192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37764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Қақтығыстар және ұсыныстар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4608576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89720" y="45628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Төтенше жағдайлар және балама жоспарлар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394960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5349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Соңғы 15 минутты шолу, PDF / CSV есептері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Тиімділік индексі: бір сан, оны түсіндіруге болады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Индекстегі фактор салмақтары, %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0256" y="1362456"/>
            <a:ext cx="2624328" cy="29931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8" name="Image 0" descr="C:/Users/user/AppData/Local/Temp/claude/C--Users-user-Desktop-Hackathon/718ac958-3b41-4cc7-8085-f07a55100345/scratchpad/shots/kz_a_ind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2514600" cy="28834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464040" y="1463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D9A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 — норма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464040" y="21488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39B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— назар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464040" y="28346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D245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— критикалық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675120" y="47548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85800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100 · Σ wₖ · fₖ ,  fₖ ∈ [0; 1]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5303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Салмақтар мен шектерді әкімші қайта іске қоспай өзгертеді. Экранда бағаны ең көп төмендететін бес фактор көрсетіледі.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Ақау → жоспарды секундтың үлесінде қайта есептеу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D245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 90 минутқа жабылды, ЧМЭ3 істен шықты, пойыз 35 минутқа кешікті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60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Жүйе қақтығыстарды табады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657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Жоспарлаушы нұсқаларды есептейді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754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ең жақсысын бір басумен қолданады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Жоспар индексінің болжамы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0" y="1691640"/>
          <a:ext cx="3657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4663440" y="49377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49377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70916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+25,7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5486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тармағы — бір қайта есептеуде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мс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5486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баламаларды есептеу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94776" y="1408176"/>
            <a:ext cx="3172968" cy="2140015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22" name="Image 0" descr="C:/Users/user/AppData/Local/Temp/claude/C--Users-user-Desktop-Hackathon/718ac958-3b41-4cc7-8085-f07a55100345/scratchpad/shots/kz_a_a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463040"/>
            <a:ext cx="3063240" cy="203028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50392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Симуляциядағы сценарий, синтетикалық деректер; индекс — таңдалған жоспардың болжамы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Қауіпсіздік және нормативтік база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316736"/>
            <a:ext cx="3310128" cy="4663024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6" name="Image 0" descr="C:/Users/user/AppData/Local/Temp/claude/C--Users-user-Desktop-Hackathon/718ac958-3b41-4cc7-8085-f07a55100345/scratchpad/shots/kz_safety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0" cy="45532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0" y="137160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51960" y="15544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39B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Отар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463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Ұмытылған башмақ → жөнелту бұғатталады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1463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 ТРА п. 3.12; лауазымдық нұсқаулық пп. 23/32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0" y="256032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5196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D245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Қопа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Қарсы маршрут, тыйым салу сигналы → бұйрық бұғатталады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651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ИДП 11-тарау п. 372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14800" y="374904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51960" y="3931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Шамалған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3840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Бекітілмеген құрам → дабыл және бұғаттау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3840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ИДП 11-тарау п. 390; №445-ЦЗ бұйрығы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4937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Кезекшілікті тапсыру: чек-парақ және башмақ санын салыстыру (айырма түсініктемені қажет етеді)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Түнгі режим 00:00–06:00: күшейтілген бақылау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114800" y="6035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Сілтемелер тергеу актілері бойынша берілген — қолданыстағы редакциямен салыстырыңыз. СППР ұсынымдық сипатта, СЦБ және АЛСН құрылғыларын алмастырмайды.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және инженерлік дәлелдер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173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сценарийлері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1417320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13632" y="14173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Сыртқы клиент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арқылы кіріс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2103120"/>
            <a:ext cx="0" cy="292608"/>
          </a:xfrm>
          <a:prstGeom prst="line">
            <a:avLst/>
          </a:prstGeom>
          <a:noFill/>
          <a:ln w="15875">
            <a:solidFill>
              <a:srgbClr val="5F759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9240" y="2103120"/>
            <a:ext cx="0" cy="292608"/>
          </a:xfrm>
          <a:prstGeom prst="line">
            <a:avLst/>
          </a:prstGeom>
          <a:noFill/>
          <a:ln w="15875">
            <a:solidFill>
              <a:srgbClr val="5F75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423160"/>
            <a:ext cx="6309360" cy="2697480"/>
          </a:xfrm>
          <a:prstGeom prst="roundRect">
            <a:avLst>
              <a:gd name="adj" fmla="val 2373"/>
            </a:avLst>
          </a:prstGeom>
          <a:solidFill>
            <a:srgbClr val="EAF1FA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Python, FastAPI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Оқиғаларды қабылдау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тексеру, реті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 моделі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жолдар, пойыздар, ресурстар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0332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E3EEFB"/>
          </a:solidFill>
          <a:ln w="19050">
            <a:solidFill>
              <a:srgbClr val="1A6F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7647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Жоспарлаушы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+ эвристика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Индекс, қақтығыстар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түр, 8 фактор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977640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тарих 72 сағ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3977640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22192" y="3977640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және логтар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JSON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5120640"/>
            <a:ext cx="0" cy="320040"/>
          </a:xfrm>
          <a:prstGeom prst="line">
            <a:avLst/>
          </a:prstGeom>
          <a:noFill/>
          <a:ln w="15875">
            <a:solidFill>
              <a:srgbClr val="5F7591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840480" y="5138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WebSocket · SSE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6309360" cy="822960"/>
          </a:xfrm>
          <a:prstGeom prst="roundRect">
            <a:avLst>
              <a:gd name="adj" fmla="val 7778"/>
            </a:avLst>
          </a:prstGeom>
          <a:solidFill>
            <a:srgbClr val="E3EEFB"/>
          </a:solidFill>
          <a:ln w="19050">
            <a:solidFill>
              <a:srgbClr val="1A6F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5440680"/>
            <a:ext cx="6163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интерфейсі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SVG/Canvas, ECharts, Three.js · RU / KZ / 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1481328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496" y="1563624"/>
            <a:ext cx="164592" cy="16459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автотест өтеді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315200" y="2194560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2276856"/>
            <a:ext cx="164592" cy="16459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81812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≈ 2,5 кадр/с, SSE қосалқы арнасы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315200" y="2907792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2990088"/>
            <a:ext cx="164592" cy="16459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818120" y="28437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Жүктеме тесті: 20 клиент, ақау сериялары ×10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7315200" y="3621024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3703320"/>
            <a:ext cx="164592" cy="16459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818120" y="35570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Рөлдер: көруші / диспетчер / admin; құпиялар — тек орта айнымалыларында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7315200" y="4334256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4416552"/>
            <a:ext cx="164592" cy="164592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818120" y="4270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Баптаулар қайта іске қоспай өзгереді (YAML + API)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7315200" y="5047488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5129784"/>
            <a:ext cx="164592" cy="16459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818120" y="4983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метрикалары, JSON-логтар, PDF / CSV есептері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7315200" y="5760720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7496" y="5843016"/>
            <a:ext cx="164592" cy="164592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818120" y="5696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Docker-образ; Render-де онлайн-стенд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дайын және әрі қарай не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3A70"/>
          </a:solidFill>
          <a:ln w="12700">
            <a:solidFill>
              <a:srgbClr val="245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Дайын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 моделі және жоспарлаушы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пульті, индекс, шолу, есептер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Қауіпсіздік: бұғаттаулар, ауысым чек-парағы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Онлайн-стенд, RU / KZ / 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3A70"/>
          </a:solidFill>
          <a:ln w="12700">
            <a:solidFill>
              <a:srgbClr val="2450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463040"/>
            <a:ext cx="457200" cy="457200"/>
          </a:xfrm>
          <a:prstGeom prst="ellipse">
            <a:avLst/>
          </a:prstGeom>
          <a:solidFill>
            <a:srgbClr val="E39B12"/>
          </a:solidFill>
          <a:ln w="12700">
            <a:solidFill>
              <a:srgbClr val="E39B1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15773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Шектер туралы турасын айтамыз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1031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Деректер синтетикалық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Экономикалық әсер нақты деректерде әлі өлшенбеген — оны пилот көрсетеді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Бұл шешімді қолдау жүйесі, СЦБ-ны алмастырмайды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3A70"/>
          </a:solidFill>
          <a:ln w="12700">
            <a:solidFill>
              <a:srgbClr val="24508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463040"/>
            <a:ext cx="457200" cy="457200"/>
          </a:xfrm>
          <a:prstGeom prst="ellipse">
            <a:avLst/>
          </a:prstGeom>
          <a:solidFill>
            <a:srgbClr val="5BA3F5"/>
          </a:solidFill>
          <a:ln w="12700">
            <a:solidFill>
              <a:srgbClr val="5BA3F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5773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Пилотқа жол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1031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оқиғалар ағынын қосу (WebSocket кірісі бар)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станциясының инфрақұрылымын сипаттау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Ауысымда «дейін / кейін» өлшеу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Кідірісті болжау және интеграциялар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C:/Users/user/AppData/Local/Temp/claude/C--Users-user-Desktop-Hackathon/718ac958-3b41-4cc7-8085-f07a55100345/scratchpad/shots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19472"/>
            <a:ext cx="1225296" cy="12252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28600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Өзіңіз көріңіз</a:t>
            </a:r>
            <a:endParaRPr lang="en-US" sz="1400" dirty="0"/>
          </a:p>
        </p:txBody>
      </p:sp>
      <p:sp>
        <p:nvSpPr>
          <p:cNvPr id="22" name="Text 16">
            <a:hlinkClick r:id="rId5" tooltip=""/>
          </p:cNvPr>
          <p:cNvSpPr txBox="1"/>
          <p:nvPr/>
        </p:nvSpPr>
        <p:spPr>
          <a:xfrm>
            <a:off x="2286000" y="53035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railtwin-digital-station.onrender.com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2286000" y="5806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Кіру: dsp.almaty / Almaty-2026  ·  dsp.shu / Shu-2026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RailMind AI</dc:title>
  <dc:subject>PptxGenJS Presentation</dc:subject>
  <dc:creator>RailMind AI team</dc:creator>
  <cp:lastModifiedBy>RailMind AI team</cp:lastModifiedBy>
  <cp:revision>1</cp:revision>
  <dcterms:created xsi:type="dcterms:W3CDTF">2026-10-01T21:37:22Z</dcterms:created>
  <dcterms:modified xsi:type="dcterms:W3CDTF">2026-10-01T21:37:22Z</dcterms:modified>
</cp:coreProperties>
</file>