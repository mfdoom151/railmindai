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Веса факторов в индексе, %</c:v>
                </c:pt>
              </c:strCache>
            </c:strRef>
          </c:tx>
          <c:spPr>
            <a:solidFill>
              <a:srgbClr val="1A6FD1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Пропускная способность</c:v>
                  </c:pt>
                  <c:pt idx="1">
                    <c:v>Среднее отклонение от графика</c:v>
                  </c:pt>
                  <c:pt idx="2">
                    <c:v>Конфликты</c:v>
                  </c:pt>
                  <c:pt idx="3">
                    <c:v>Загрузка путей</c:v>
                  </c:pt>
                  <c:pt idx="4">
                    <c:v>Загрузка локомотивов</c:v>
                  </c:pt>
                  <c:pt idx="5">
                    <c:v>Загрузка бригад</c:v>
                  </c:pt>
                  <c:pt idx="6">
                    <c:v>Наибольшее отклонение</c:v>
                  </c:pt>
                  <c:pt idx="7">
                    <c:v>Очередь на подходе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18</c:v>
                </c:pt>
                <c:pt idx="2">
                  <c:v>18</c:v>
                </c:pt>
                <c:pt idx="3">
                  <c:v>12</c:v>
                </c:pt>
                <c:pt idx="4">
                  <c:v>10</c:v>
                </c:pt>
                <c:pt idx="5">
                  <c:v>10</c:v>
                </c:pt>
                <c:pt idx="6">
                  <c:v>7</c:v>
                </c:pt>
                <c:pt idx="7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0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43D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Без вмешательства</c:v>
                </c:pt>
              </c:strCache>
            </c:strRef>
          </c:tx>
          <c:spPr>
            <a:solidFill>
              <a:srgbClr val="D2453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 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После пересчёта</c:v>
                </c:pt>
              </c:strCache>
            </c:strRef>
          </c:tx>
          <c:spPr>
            <a:solidFill>
              <a:srgbClr val="1A6FD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0243D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 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86.2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800" u="none">
                  <a:solidFill>
                    <a:srgbClr val="10243D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0243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проект одной фразой: цифровая станция, которая планирует работу и перестраивает план при сбое. Ссылка на живой стенд — внизу.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 потерь нет сознательно: подтверждённой статистики у команды нет. Три случая из материалов кейса — Отар, Копа, Шамалган.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идея: манёвр возможен, когда согласованы четыре ресурса. На скриншоте — реальная панель ресурсов с «узким местом».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блока решения: модель, планировщик, рабочее место. Планировщик — OR-Tools CP-SAT плюс быстрая эвристика.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Цикл около 2 раз в секунду. Замеры: поток ≈2,5 кадра/с на онлайн-стенде; первый план за миллисекунды, итоговый — до 1,5 с (лимит решателя).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— фотография карты-схемы ҚТЖ; станции и участки привязаны к дорогам. 13 станций кейса, у каждой своя проблема. Остальная сеть — имитация движения.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Показываем рабочее место: слева индекс, в центре схема и диаграмма, справа конфликты, внизу сбои и перемотка.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Индекс прозрачен: формула, веса и топ-5 причин потерь. Веса меняются без перезапуска.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Сценарий: закрыт путь, отказал локомотив, задержан поезд. Индекс плана без вмешательства 60,5, после пересчёта 86,2. Это прогноз плана на симуляции.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Ссылки на ИДП/ТРА даны по материалам актов расследования — перед защитой сверить с действующей редакцией. Система — СППР, не заменяет СЦБ.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Инженерные факты: 25 автотестов, нагрузочный тест, роли, метрики, Docker. Все цифры проверяемы.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Закрытие: честно о границах, путь к пилоту, QR-код на живой стенд и демо-логины.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ltwin-digital-station.onrender.com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railtwin-digital-station.onrender.com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Хакатон · кейс «Цифровая станция»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станция: планирование и управление работой станции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Команда: Turmakhan Maqsat Serikuly (GitHub: MFDoom151)</a:t>
            </a:r>
            <a:endParaRPr lang="en-US" sz="1400" dirty="0"/>
          </a:p>
        </p:txBody>
      </p:sp>
      <p:sp>
        <p:nvSpPr>
          <p:cNvPr id="6" name="Text 4">
            <a:hlinkClick r:id="rId1" tooltip=""/>
          </p:cNvPr>
          <p:cNvSpPr txBox="1"/>
          <p:nvPr/>
        </p:nvSpPr>
        <p:spPr>
          <a:xfrm>
            <a:off x="640080" y="58978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railtwin-digital-station.onrender.com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43016" y="1179576"/>
            <a:ext cx="5961888" cy="3767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8" name="Image 0" descr="C:/Users/user/AppData/Local/Temp/claude/C--Users-user-Desktop-Hackathon/718ac958-3b41-4cc7-8085-f07a55100345/scratchpad/shots/ru_a_contr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234440"/>
            <a:ext cx="58521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Проблема: станцией управляют вручную, а сбой меняет всё сразу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83080"/>
            <a:ext cx="731520" cy="73152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91640" y="16184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Ручное планирование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198424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сам сводит пути, горловины, локомотивы и бригады.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3246120"/>
            <a:ext cx="731520" cy="73152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290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91640" y="30815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ломает план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344728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пути, отказ стрелки, задержка поезда или нехватка бригады — план нужно перестроить за минуты.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669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31520" y="4709160"/>
            <a:ext cx="731520" cy="731520"/>
          </a:xfrm>
          <a:prstGeom prst="ellipse">
            <a:avLst/>
          </a:prstGeom>
          <a:solidFill>
            <a:srgbClr val="D2453C"/>
          </a:solidFill>
          <a:ln w="12700">
            <a:solidFill>
              <a:srgbClr val="D2453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9164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ошибки — безопасность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691640" y="4910328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материалах кейса: забытые башмаки (Отар), враждебные маршруты (Копа), незакреплённый состав (Шамалган).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28816" y="1453896"/>
            <a:ext cx="5138928" cy="213144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1" name="Image 3" descr="C:/Users/user/AppData/Local/Temp/claude/C--Users-user-Desktop-Hackathon/718ac958-3b41-4cc7-8085-f07a55100345/scratchpad/shots/ru_a_scheme_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508760"/>
            <a:ext cx="5029200" cy="20217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28816" y="3640208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станции в системе: занятые пути и поезда в очереди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583680" y="4079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Статистику потерь не приводим: подтверждённых данных у нас нет.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ресурса — одно решение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74879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приёмо-отправочные и сортировочные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67735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50615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205" y="1748790"/>
            <a:ext cx="297180" cy="29718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0615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Маневровый локомотив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550615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ЧМЭ3 / ТЭМ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86830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369710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300" y="17487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69710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Составительская бригада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369710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смена и доступность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05926" y="141732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188806" y="1600200"/>
            <a:ext cx="594360" cy="59436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7396" y="1748790"/>
            <a:ext cx="297180" cy="2971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188806" y="22860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стрелочные маршруты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188806" y="26974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горловины без конфликтов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33832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Манёвр возможен, только если согласованы все четыре ресурса сразу. Нехватка любого — простой и очередь на подходе.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493776" y="4151376"/>
            <a:ext cx="10991088" cy="1348886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7" name="Image 4" descr="C:/Users/user/AppData/Local/Temp/claude/C--Users-user-Desktop-Hackathon/718ac958-3b41-4cc7-8085-f07a55100345/scratchpad/shots/ru_res_onl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06240"/>
            <a:ext cx="10881360" cy="123915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93776" y="5555126"/>
            <a:ext cx="1099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это видит диспетчер: ресурсы станции и «узкое место»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AI: модель станции + планировщик + рабочее место диспетчера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7739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Цифровая модель станции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Пути, горловины, платформы, поезда, локомотивы, бригады, окна ремонта. Входные события проходят проверку: дубли, мусор, порядок.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9768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310" y="19773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CP-SAT и быстрая эвристика: строят план с учётом всех ограничений и предлагают альтернативы.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046720" y="1508760"/>
            <a:ext cx="35661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21040" y="1783080"/>
            <a:ext cx="777240" cy="777240"/>
          </a:xfrm>
          <a:prstGeom prst="ellipse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5350" y="1977390"/>
            <a:ext cx="388620" cy="3886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Рабочее место диспетчера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324612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путей, диаграмма движения, индекс эффективности, конфликты и рекомендации, перемотка, отчёты.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0B2A52"/>
          </a:solidFill>
          <a:ln w="12700">
            <a:solidFill>
              <a:srgbClr val="0B2A5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одном экране: что происходит, почему плохо и что делать.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данных до рекомендации — пять шагов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10512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672" y="1737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31520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События от симулятора или внешнего источника по WebSocket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569464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999232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078224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384" y="1737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999232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станции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2999232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Проверка: дубли, мусор, порядок; сглаживание координат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837176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84064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5266944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6345936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096" y="173736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266944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5266944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и более типов: путь закрыт, ожидание приёма, опоздание отправления…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104888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351776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7534656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613648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0808" y="1737360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534656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7534656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OR-Tools CP-SAT и эвристика; несколько вариантов</a:t>
            </a:r>
            <a:endParaRPr lang="en-US" sz="1250" dirty="0"/>
          </a:p>
        </p:txBody>
      </p:sp>
      <p:sp>
        <p:nvSpPr>
          <p:cNvPr id="32" name="Shape 26"/>
          <p:cNvSpPr/>
          <p:nvPr/>
        </p:nvSpPr>
        <p:spPr>
          <a:xfrm>
            <a:off x="9372600" y="2697480"/>
            <a:ext cx="219456" cy="274320"/>
          </a:xfrm>
          <a:prstGeom prst="rightArrow">
            <a:avLst/>
          </a:prstGeom>
          <a:solidFill>
            <a:srgbClr val="1A6FD1"/>
          </a:solidFill>
          <a:ln w="12700">
            <a:solidFill>
              <a:srgbClr val="1A6FD1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9619488" y="1463040"/>
            <a:ext cx="1993392" cy="26517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34" name="Text 28"/>
          <p:cNvSpPr txBox="1"/>
          <p:nvPr/>
        </p:nvSpPr>
        <p:spPr>
          <a:xfrm>
            <a:off x="9802368" y="1645920"/>
            <a:ext cx="411480" cy="41148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10881360" y="1600200"/>
            <a:ext cx="548640" cy="548640"/>
          </a:xfrm>
          <a:prstGeom prst="ellipse">
            <a:avLst/>
          </a:prstGeom>
          <a:solidFill>
            <a:srgbClr val="E3EEFB"/>
          </a:solidFill>
          <a:ln w="12700">
            <a:solidFill>
              <a:srgbClr val="E3EEFB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8520" y="17373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802368" y="22860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38" name="Text 31"/>
          <p:cNvSpPr txBox="1"/>
          <p:nvPr/>
        </p:nvSpPr>
        <p:spPr>
          <a:xfrm>
            <a:off x="9802368" y="2697480"/>
            <a:ext cx="16276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 одним кликом; план обновляется в реальном времени</a:t>
            </a:r>
            <a:endParaRPr lang="en-US" sz="1250" dirty="0"/>
          </a:p>
        </p:txBody>
      </p:sp>
      <p:sp>
        <p:nvSpPr>
          <p:cNvPr id="39" name="Shape 32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4457700"/>
            <a:ext cx="228600" cy="2286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143000" y="42976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повторяется около двух раз в секунду; каждое новое событие запускает перепланирование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54864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3" name="Text 35"/>
          <p:cNvSpPr txBox="1"/>
          <p:nvPr/>
        </p:nvSpPr>
        <p:spPr>
          <a:xfrm>
            <a:off x="73152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2,5</a:t>
            </a:r>
            <a:endParaRPr lang="en-US" sz="2600" dirty="0"/>
          </a:p>
        </p:txBody>
      </p:sp>
      <p:sp>
        <p:nvSpPr>
          <p:cNvPr id="44" name="Text 36"/>
          <p:cNvSpPr txBox="1"/>
          <p:nvPr/>
        </p:nvSpPr>
        <p:spPr>
          <a:xfrm>
            <a:off x="237744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кадра в секунду — поток данных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429768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6" name="Text 38"/>
          <p:cNvSpPr txBox="1"/>
          <p:nvPr/>
        </p:nvSpPr>
        <p:spPr>
          <a:xfrm>
            <a:off x="448056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мс</a:t>
            </a:r>
            <a:endParaRPr lang="en-US" sz="2600" dirty="0"/>
          </a:p>
        </p:txBody>
      </p:sp>
      <p:sp>
        <p:nvSpPr>
          <p:cNvPr id="47" name="Text 39"/>
          <p:cNvSpPr txBox="1"/>
          <p:nvPr/>
        </p:nvSpPr>
        <p:spPr>
          <a:xfrm>
            <a:off x="612648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нештатной ситуации</a:t>
            </a:r>
            <a:endParaRPr lang="en-US" sz="1200" dirty="0"/>
          </a:p>
        </p:txBody>
      </p:sp>
      <p:sp>
        <p:nvSpPr>
          <p:cNvPr id="48" name="Shape 40"/>
          <p:cNvSpPr/>
          <p:nvPr/>
        </p:nvSpPr>
        <p:spPr>
          <a:xfrm>
            <a:off x="8046720" y="50292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49" name="Text 41"/>
          <p:cNvSpPr txBox="1"/>
          <p:nvPr/>
        </p:nvSpPr>
        <p:spPr>
          <a:xfrm>
            <a:off x="8229600" y="50749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мс … 1,5 с</a:t>
            </a:r>
            <a:endParaRPr lang="en-US" sz="2600" dirty="0"/>
          </a:p>
        </p:txBody>
      </p:sp>
      <p:sp>
        <p:nvSpPr>
          <p:cNvPr id="50" name="Text 42"/>
          <p:cNvSpPr txBox="1"/>
          <p:nvPr/>
        </p:nvSpPr>
        <p:spPr>
          <a:xfrm>
            <a:off x="9875520" y="50749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первого до итогового плана</a:t>
            </a:r>
            <a:endParaRPr lang="en-US" sz="1200" dirty="0"/>
          </a:p>
        </p:txBody>
      </p:sp>
      <p:sp>
        <p:nvSpPr>
          <p:cNvPr id="51" name="Text 43"/>
          <p:cNvSpPr txBox="1"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Замеры: ноутбук разработчика и онлайн-стенд, синтетические данные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Наблюдение: вся сеть КТЖ и 3D-модель любой станции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62456"/>
            <a:ext cx="6419088" cy="3805679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ru_map_on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309360" cy="36959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93776" y="5222999"/>
            <a:ext cx="6419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КТЖ на карте-схеме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08976" y="1362456"/>
            <a:ext cx="3858768" cy="2305873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9" name="Image 1" descr="C:/Users/user/AppData/Local/Temp/claude/C--Users-user-Desktop-Hackathon/718ac958-3b41-4cc7-8085-f07a55100345/scratchpad/shots/ru_map_heat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417320"/>
            <a:ext cx="3749040" cy="219614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808976" y="3723193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загрузки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808976" y="4107241"/>
            <a:ext cx="3858768" cy="1764109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12" name="Image 2" descr="C:/Users/user/AppData/Local/Temp/claude/C--Users-user-Desktop-Hackathon/718ac958-3b41-4cc7-8085-f07a55100345/scratchpad/shots/ru_twin_onl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4162105"/>
            <a:ext cx="3749040" cy="165438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808976" y="5926213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3D-модель станции Алматы-1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5661911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станций кейса — у каждой своя проблема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Тепловая карта загрузки участков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4023360" y="5661911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дорогам идёт имитация движения поездов</a:t>
            </a:r>
            <a:endParaRPr lang="en-US" sz="13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Клик по станции открывает её 3D-модель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Управление: рабочее место диспетчера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62456"/>
            <a:ext cx="7790688" cy="4910328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ru_a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680960" cy="4800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0" y="1463040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189720" y="14173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эффективности и причины потерь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249424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89720" y="22037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путей станции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3035808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9189720" y="299008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Диаграмма движения: план и факт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822192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37764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Конфликты и рекомендации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686800" y="4608576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89720" y="45628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Нештатные ситуации и альтернативные планы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394960"/>
            <a:ext cx="365760" cy="36576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89720" y="5349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Перемотка 15 минут, отчёты PDF / CSV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эффективности: одна цифра, которую можно объяснить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факторов в индексе, %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69164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620256" y="1362456"/>
            <a:ext cx="2624328" cy="2993136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8" name="Image 0" descr="C:/Users/user/AppData/Local/Temp/claude/C--Users-user-Desktop-Hackathon/718ac958-3b41-4cc7-8085-f07a55100345/scratchpad/shots/ru_a_ind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2514600" cy="28834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464040" y="14630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D9A6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 — норма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464040" y="21488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39B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— внимание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9464040" y="283464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50 — критично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675120" y="475488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858000" y="4828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A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= 100 · Σ wₖ · fₖ ,  fₖ ∈ [0; 1]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858000" y="53035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и пороги меняет администратор без перезапуска. На экране — пять факторов, которые сильнее всего снижают оценку.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→ пересчёт плана за доли секунды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 путь на 90 минут, отказал ЧМЭ3, поезд опаздывает на 35 минут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560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находит конфликты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6576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считает варианты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846320"/>
            <a:ext cx="457200" cy="457200"/>
          </a:xfrm>
          <a:prstGeom prst="ellipse">
            <a:avLst/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7548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 применяет лучший одним кликом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Прогнозный индекс плана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572000" y="1691640"/>
          <a:ext cx="36576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663440" y="49377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92240" y="4937760"/>
            <a:ext cx="16916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70916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D9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+25,7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4754880" y="5486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пункта индекса за один пересчёт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49834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мс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548640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альтернатив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494776" y="1408176"/>
            <a:ext cx="3172968" cy="20094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22" name="Image 0" descr="C:/Users/user/AppData/Local/Temp/claude/C--Users-user-Desktop-Hackathon/718ac958-3b41-4cc7-8085-f07a55100345/scratchpad/shots/ru_a_al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463040"/>
            <a:ext cx="3063240" cy="189968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50392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на симуляции, синтетические данные; индекс — прогноз выбранного плана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нормативная база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3776" y="1316736"/>
            <a:ext cx="3310128" cy="47309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pic>
        <p:nvPicPr>
          <p:cNvPr id="6" name="Image 0" descr="C:/Users/user/AppData/Local/Temp/claude/C--Users-user-Desktop-Hackathon/718ac958-3b41-4cc7-8085-f07a55100345/scratchpad/shots/ru_safety_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00400" cy="4621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0" y="137160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251960" y="15544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E39B1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Отар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806440" y="14630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Забытый башмак → отправление блокируется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0" y="14630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 станции п. 3.12; долж. инструкция пп. 23/32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114800" y="256032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251960" y="274320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D245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Копа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806440" y="2651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Враждебный маршрут, запрещающий сигнал → приказ блокируется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2651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ИДП гл. 11 п. 372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114800" y="3749040"/>
            <a:ext cx="7498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D3DEEC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2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4251960" y="393192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1A6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Шамалган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806440" y="38404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Незакреплённый состав → сигнал тревоги и блокировка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9144000" y="38404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ИДП гл. 11 п. 390; приказ №445-ЦЗ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493776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Сдача дежурства: чек-лист и сверка числа башмаков (расхождение требует пояснения)</a:t>
            </a:r>
            <a:endParaRPr lang="en-US" sz="13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Ночной режим 00:00–06:00: усиленный контроль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114800" y="6035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Ссылки даны по материалам актов расследования — сверять с действующей редакцией. СППР носит рекомендательный характер и не заменяет устройства СЦБ и АЛСН.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и инженерные доказательства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RailMind AI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173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тестовые сценарии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0" y="1417320"/>
            <a:ext cx="301752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13632" y="1417320"/>
            <a:ext cx="28712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клиент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по WebSocket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057400" y="2103120"/>
            <a:ext cx="0" cy="292608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49240" y="2103120"/>
            <a:ext cx="0" cy="292608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423160"/>
            <a:ext cx="6309360" cy="2697480"/>
          </a:xfrm>
          <a:prstGeom prst="roundRect">
            <a:avLst>
              <a:gd name="adj" fmla="val 2373"/>
            </a:avLst>
          </a:prstGeom>
          <a:solidFill>
            <a:srgbClr val="EAF1FA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2468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· Python, FastAPI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событий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проверка, порядок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станции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пути, поезда, ресурсы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70332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E3EEFB"/>
          </a:solidFill>
          <a:ln w="19050">
            <a:solidFill>
              <a:srgbClr val="1A6F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7647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+ эвристика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212080" y="2834640"/>
            <a:ext cx="14173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8523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Индекс, конфликты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типов, 8 факторов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5800" y="3977640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8952" y="3977640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72 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3977640"/>
            <a:ext cx="29260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3DE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22192" y="3977640"/>
            <a:ext cx="2779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и логи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Prometheus, JSON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5120640"/>
            <a:ext cx="0" cy="320040"/>
          </a:xfrm>
          <a:prstGeom prst="line">
            <a:avLst/>
          </a:prstGeom>
          <a:noFill/>
          <a:ln w="15875">
            <a:solidFill>
              <a:srgbClr val="5F7591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840480" y="5138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WebSocket · SSE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6309360" cy="822960"/>
          </a:xfrm>
          <a:prstGeom prst="roundRect">
            <a:avLst>
              <a:gd name="adj" fmla="val 7778"/>
            </a:avLst>
          </a:prstGeom>
          <a:solidFill>
            <a:srgbClr val="E3EEFB"/>
          </a:solidFill>
          <a:ln w="19050">
            <a:solidFill>
              <a:srgbClr val="1A6FD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5440680"/>
            <a:ext cx="6163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 диспетчера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JavaScript, SVG/Canvas, ECharts, Three.js · RU / KZ / EN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1481328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496" y="1563624"/>
            <a:ext cx="164592" cy="164592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7818120" y="1417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автотестов проходят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7315200" y="2194560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6" y="2276856"/>
            <a:ext cx="164592" cy="16459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81812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≈ 2,5 кадра/с, резервный канал SSE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315200" y="2907792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6" y="2990088"/>
            <a:ext cx="164592" cy="164592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7818120" y="284378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Нагрузочный тест: 20 клиентов, серии сбоев ×10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7315200" y="3621024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3703320"/>
            <a:ext cx="164592" cy="164592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7818120" y="355701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Роли: просмотр / диспетчер / admin; секреты — только в переменных окружения</a:t>
            </a:r>
            <a:endParaRPr lang="en-US" sz="1300" dirty="0"/>
          </a:p>
        </p:txBody>
      </p:sp>
      <p:sp>
        <p:nvSpPr>
          <p:cNvPr id="41" name="Shape 35"/>
          <p:cNvSpPr/>
          <p:nvPr/>
        </p:nvSpPr>
        <p:spPr>
          <a:xfrm>
            <a:off x="7315200" y="4334256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4416552"/>
            <a:ext cx="164592" cy="164592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7818120" y="427024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без перезапуска (YAML + API)</a:t>
            </a:r>
            <a:endParaRPr lang="en-US" sz="1300" dirty="0"/>
          </a:p>
        </p:txBody>
      </p:sp>
      <p:sp>
        <p:nvSpPr>
          <p:cNvPr id="44" name="Shape 37"/>
          <p:cNvSpPr/>
          <p:nvPr/>
        </p:nvSpPr>
        <p:spPr>
          <a:xfrm>
            <a:off x="7315200" y="5047488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496" y="5129784"/>
            <a:ext cx="164592" cy="164592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818120" y="4983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Prometheus, JSON-логи, отчёты PDF / CSV</a:t>
            </a:r>
            <a:endParaRPr lang="en-US" sz="1300" dirty="0"/>
          </a:p>
        </p:txBody>
      </p:sp>
      <p:sp>
        <p:nvSpPr>
          <p:cNvPr id="47" name="Shape 39"/>
          <p:cNvSpPr/>
          <p:nvPr/>
        </p:nvSpPr>
        <p:spPr>
          <a:xfrm>
            <a:off x="7315200" y="5760720"/>
            <a:ext cx="329184" cy="329184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97496" y="5843016"/>
            <a:ext cx="164592" cy="164592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7818120" y="56967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Docker-образ; онлайн-стенд на Render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готово и что дальше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127729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1D9A68"/>
          </a:solidFill>
          <a:ln w="12700">
            <a:solidFill>
              <a:srgbClr val="1D9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773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Готово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станции и планировщик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Пульт диспетчера, индекс, перемотка, отчёты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Безопасность: блокировки, чек-лист смены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Онлайн-стенд, RU / KZ / EN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9768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463040"/>
            <a:ext cx="457200" cy="457200"/>
          </a:xfrm>
          <a:prstGeom prst="ellipse">
            <a:avLst/>
          </a:prstGeom>
          <a:solidFill>
            <a:srgbClr val="E39B12"/>
          </a:solidFill>
          <a:ln w="12700">
            <a:solidFill>
              <a:srgbClr val="E39B1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15773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2064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о границах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синтетические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Экономический эффект на реальных данных пока не измерен — его покажет пилот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система поддержки решений, а не замена СЦБ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46720" y="1280160"/>
            <a:ext cx="3566160" cy="3246120"/>
          </a:xfrm>
          <a:prstGeom prst="roundRect">
            <a:avLst>
              <a:gd name="adj" fmla="val 2254"/>
            </a:avLst>
          </a:prstGeom>
          <a:solidFill>
            <a:srgbClr val="123A70"/>
          </a:solidFill>
          <a:ln w="12700">
            <a:solidFill>
              <a:srgbClr val="24508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75320" y="1463040"/>
            <a:ext cx="457200" cy="457200"/>
          </a:xfrm>
          <a:prstGeom prst="ellipse">
            <a:avLst/>
          </a:prstGeom>
          <a:solidFill>
            <a:srgbClr val="5BA3F5"/>
          </a:solidFill>
          <a:ln w="12700">
            <a:solidFill>
              <a:srgbClr val="5BA3F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5773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69680" y="1463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пилоту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103120"/>
            <a:ext cx="30632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 реальный поток событий (вход WebSocket уже есть)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Описать инфраструктуру станции пилота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Замерить «до / после» на смене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CFE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задержек и интеграции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80060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C:/Users/user/AppData/Local/Temp/claude/C--Users-user-Desktop-Hackathon/718ac958-3b41-4cc7-8085-f07a55100345/scratchpad/sho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19472"/>
            <a:ext cx="1225296" cy="12252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28600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Попробуйте сами</a:t>
            </a:r>
            <a:endParaRPr lang="en-US" sz="1400" dirty="0"/>
          </a:p>
        </p:txBody>
      </p:sp>
      <p:sp>
        <p:nvSpPr>
          <p:cNvPr id="22" name="Text 16">
            <a:hlinkClick r:id="rId5" tooltip=""/>
          </p:cNvPr>
          <p:cNvSpPr txBox="1"/>
          <p:nvPr/>
        </p:nvSpPr>
        <p:spPr>
          <a:xfrm>
            <a:off x="2286000" y="53035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1A6FD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railtwin-digital-station.onrender.com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2286000" y="580644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Вход: dsp.almaty / Almaty-2026  ·  dsp.shu / Shu-2026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RailMind AI</dc:title>
  <dc:subject>PptxGenJS Presentation</dc:subject>
  <dc:creator>RailMind AI team</dc:creator>
  <cp:lastModifiedBy>RailMind AI team</cp:lastModifiedBy>
  <cp:revision>1</cp:revision>
  <dcterms:created xsi:type="dcterms:W3CDTF">2026-10-01T21:37:22Z</dcterms:created>
  <dcterms:modified xsi:type="dcterms:W3CDTF">2026-10-01T21:37:22Z</dcterms:modified>
</cp:coreProperties>
</file>